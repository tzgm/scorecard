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3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chemeClr val="tx2">
                <a:lumMod val="40000"/>
                <a:lumOff val="60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C5FB77-54CF-6709-25E4-FE9A39BF95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Egy banki hitelbírálati rendszer lehetséges modellje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2FD3EFA-92EF-2F28-FB71-272E728747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Tóth Zoltán (JDKTMY Adatelemző Szak)</a:t>
            </a:r>
          </a:p>
          <a:p>
            <a:r>
              <a:rPr lang="hu-HU" dirty="0"/>
              <a:t>Szakdolgozat védés</a:t>
            </a:r>
          </a:p>
        </p:txBody>
      </p:sp>
    </p:spTree>
    <p:extLst>
      <p:ext uri="{BB962C8B-B14F-4D97-AF65-F5344CB8AC3E}">
        <p14:creationId xmlns:p14="http://schemas.microsoft.com/office/powerpoint/2010/main" val="2999677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B02F5F-3CF1-BC9C-FB59-8CABD759E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Egy Banki Hitelbírálati rendszer lehetséges modellje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F32F033-C69A-A2E6-8801-81A941CEF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Minősítő rendszerek a banki kockázatkezelésben</a:t>
            </a:r>
          </a:p>
          <a:p>
            <a:r>
              <a:rPr lang="hu-HU" dirty="0"/>
              <a:t>Leggyakoribb osztályozási technikák, ezek előnyei -  hátrányai</a:t>
            </a:r>
          </a:p>
          <a:p>
            <a:r>
              <a:rPr lang="hu-HU" dirty="0"/>
              <a:t>Modell bemutatása, a kialakítás legfontosabb lépései</a:t>
            </a:r>
          </a:p>
        </p:txBody>
      </p:sp>
    </p:spTree>
    <p:extLst>
      <p:ext uri="{BB962C8B-B14F-4D97-AF65-F5344CB8AC3E}">
        <p14:creationId xmlns:p14="http://schemas.microsoft.com/office/powerpoint/2010/main" val="3396295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2D69A2-8CFD-ECB1-8367-E15C50543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Minősítő rendszerek kulcsszerepet játszanak a banki kockázatkezelésben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5E6AE7C-2688-F748-4946-9F1B8634E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finanszírozók esetében a legfontosabb kockázat-típusok a hitelezési, piaci és működési </a:t>
            </a:r>
          </a:p>
          <a:p>
            <a:r>
              <a:rPr lang="hu-HU" dirty="0"/>
              <a:t>A minősítő rendszerek nemcsak a hitelbírálat (annak eldöntése, hogy ki kap hitelt), így a hitelezési kockázatok menedzselésében </a:t>
            </a:r>
            <a:r>
              <a:rPr lang="hu-HU" dirty="0" err="1"/>
              <a:t>fontosak</a:t>
            </a:r>
            <a:r>
              <a:rPr lang="hu-HU" dirty="0"/>
              <a:t>, de a tőkekövetelmények számítása miatt is</a:t>
            </a:r>
          </a:p>
          <a:p>
            <a:r>
              <a:rPr lang="hu-HU" dirty="0"/>
              <a:t>AIRB rendszer esetén a PD, LGD, EAD becslésével kell a hitelkockázatokra képzendő tőkekövetelményt számolni </a:t>
            </a:r>
          </a:p>
          <a:p>
            <a:r>
              <a:rPr lang="hu-HU" dirty="0"/>
              <a:t>Ebből a minősító rendszerek a PD-t adják meg </a:t>
            </a:r>
          </a:p>
        </p:txBody>
      </p:sp>
    </p:spTree>
    <p:extLst>
      <p:ext uri="{BB962C8B-B14F-4D97-AF65-F5344CB8AC3E}">
        <p14:creationId xmlns:p14="http://schemas.microsoft.com/office/powerpoint/2010/main" val="2352494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FAEFCC-42C3-D33E-56BE-931F373D8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minősítő rendszerek két alaptípusa: </a:t>
            </a:r>
            <a:r>
              <a:rPr lang="hu-HU" dirty="0" err="1"/>
              <a:t>Rating</a:t>
            </a:r>
            <a:r>
              <a:rPr lang="hu-HU" dirty="0"/>
              <a:t> és </a:t>
            </a:r>
            <a:r>
              <a:rPr lang="hu-HU" dirty="0" err="1"/>
              <a:t>scoring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983589E-D60B-938E-46C2-FF96AAF3FC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2400" dirty="0" err="1">
                <a:solidFill>
                  <a:schemeClr val="tx1"/>
                </a:solidFill>
              </a:rPr>
              <a:t>Rating</a:t>
            </a:r>
            <a:endParaRPr lang="hu-HU" sz="2400" dirty="0">
              <a:solidFill>
                <a:schemeClr val="tx1"/>
              </a:solidFill>
            </a:endParaRPr>
          </a:p>
          <a:p>
            <a:r>
              <a:rPr lang="hu-HU" dirty="0" err="1"/>
              <a:t>Corporate</a:t>
            </a:r>
            <a:r>
              <a:rPr lang="hu-HU" dirty="0"/>
              <a:t> ügyfelek esetében alkalmazott</a:t>
            </a:r>
          </a:p>
          <a:p>
            <a:r>
              <a:rPr lang="hu-HU" dirty="0"/>
              <a:t>Egyedi, nagyobb értékű ügyletek</a:t>
            </a:r>
          </a:p>
          <a:p>
            <a:r>
              <a:rPr lang="hu-HU" dirty="0"/>
              <a:t>Pénzügyi mutatók </a:t>
            </a:r>
          </a:p>
          <a:p>
            <a:r>
              <a:rPr lang="hu-HU" dirty="0"/>
              <a:t>Jövőbeni kilátások, piaci, stratégiai, menedzsment, stb. kritériumok</a:t>
            </a:r>
          </a:p>
          <a:p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C6593C9-0AA8-9DCC-74A1-1C5CDD3752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2400" dirty="0" err="1">
                <a:solidFill>
                  <a:schemeClr val="tx1"/>
                </a:solidFill>
              </a:rPr>
              <a:t>Scoring</a:t>
            </a:r>
            <a:endParaRPr lang="hu-HU" sz="2400" dirty="0">
              <a:solidFill>
                <a:schemeClr val="tx1"/>
              </a:solidFill>
            </a:endParaRPr>
          </a:p>
          <a:p>
            <a:r>
              <a:rPr lang="hu-HU" dirty="0"/>
              <a:t>Magánszemélyek és KKV</a:t>
            </a:r>
          </a:p>
          <a:p>
            <a:r>
              <a:rPr lang="hu-HU" dirty="0"/>
              <a:t>Kisebb értékű, standard, tömegesen előforduló ügyletek </a:t>
            </a:r>
          </a:p>
          <a:p>
            <a:r>
              <a:rPr lang="hu-HU" dirty="0"/>
              <a:t>Ügyfél és ügylet jellemzői, egyszerű, objektív kritériumok</a:t>
            </a:r>
          </a:p>
          <a:p>
            <a:r>
              <a:rPr lang="hu-HU" dirty="0"/>
              <a:t>Adatelemzési - statisztikai módszerek </a:t>
            </a:r>
          </a:p>
          <a:p>
            <a:r>
              <a:rPr lang="hu-HU" dirty="0"/>
              <a:t>Jelentkezési és viselkedési </a:t>
            </a:r>
            <a:r>
              <a:rPr lang="hu-HU" dirty="0" err="1"/>
              <a:t>scoring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63541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B3722E-D1AF-F4F5-5342-27808722A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Kialakított Modell – </a:t>
            </a:r>
            <a:r>
              <a:rPr lang="hu-HU" dirty="0" err="1"/>
              <a:t>retail</a:t>
            </a:r>
            <a:r>
              <a:rPr lang="hu-HU" dirty="0"/>
              <a:t> jelentkezési </a:t>
            </a:r>
            <a:r>
              <a:rPr lang="hu-HU" dirty="0" err="1"/>
              <a:t>scoring</a:t>
            </a:r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D95A0F0-8BF6-CF9F-1BCB-D7C64140C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Eldöntendő kérdés: jóváhagyjuk-e a hitelt vagy sem</a:t>
            </a:r>
          </a:p>
          <a:p>
            <a:r>
              <a:rPr lang="hu-HU" dirty="0"/>
              <a:t>Nincs hiteltörténet, belső információ, limitált adat áll rendelkezésre</a:t>
            </a:r>
          </a:p>
          <a:p>
            <a:r>
              <a:rPr lang="hu-HU" dirty="0">
                <a:solidFill>
                  <a:schemeClr val="tx1"/>
                </a:solidFill>
              </a:rPr>
              <a:t>Bináris osztályozási feladat</a:t>
            </a:r>
          </a:p>
        </p:txBody>
      </p:sp>
    </p:spTree>
    <p:extLst>
      <p:ext uri="{BB962C8B-B14F-4D97-AF65-F5344CB8AC3E}">
        <p14:creationId xmlns:p14="http://schemas.microsoft.com/office/powerpoint/2010/main" val="764779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FD41AA-8639-20F8-AB7A-D22567E72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Logisztikus regresszió – a leggyakoribb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222D687-61F3-3067-27F0-C1FCCCE5E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Előnyök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C0D9B3A-EBC5-9975-DFA2-A5A42AD20D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dirty="0"/>
              <a:t>Az eredmény a nem fizetés valószínűségét is megadja, ami mint fent láttuk szabályozói követelmény</a:t>
            </a:r>
          </a:p>
          <a:p>
            <a:r>
              <a:rPr lang="hu-HU" dirty="0"/>
              <a:t>Beállítható </a:t>
            </a:r>
            <a:r>
              <a:rPr lang="hu-HU" dirty="0" err="1"/>
              <a:t>cut-off</a:t>
            </a:r>
            <a:r>
              <a:rPr lang="hu-HU" dirty="0"/>
              <a:t> érték</a:t>
            </a:r>
          </a:p>
          <a:p>
            <a:r>
              <a:rPr lang="hu-HU" dirty="0"/>
              <a:t>A ß-k a változók fontosságát is jelzik, nemcsak a súlyukat </a:t>
            </a:r>
          </a:p>
          <a:p>
            <a:r>
              <a:rPr lang="hu-HU" dirty="0"/>
              <a:t>Nem érzékeny a nemfizetők / fizetők arányára </a:t>
            </a:r>
          </a:p>
          <a:p>
            <a:r>
              <a:rPr lang="hu-HU" dirty="0"/>
              <a:t>Nem feltétel a változók normalitása</a:t>
            </a:r>
          </a:p>
          <a:p>
            <a:r>
              <a:rPr lang="hu-HU" dirty="0"/>
              <a:t>Folytonos és diszkrét változók egyaránt lehetségesek</a:t>
            </a:r>
          </a:p>
          <a:p>
            <a:endParaRPr lang="hu-HU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DF5A886-23CB-D48D-783C-AB3277CCD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 dirty="0"/>
              <a:t>Hátrányok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7C71290-897E-ACCA-FBF7-83082097C05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dirty="0"/>
              <a:t>Nominális (minőségi) változókat nem képes kezelni </a:t>
            </a:r>
          </a:p>
          <a:p>
            <a:r>
              <a:rPr lang="hu-HU" dirty="0"/>
              <a:t>A nem lineáris összefüggéseket nem képes automatikusan kezelni </a:t>
            </a:r>
          </a:p>
          <a:p>
            <a:r>
              <a:rPr lang="hu-HU" dirty="0"/>
              <a:t>Az eljárás érzékeny a kiugró, extrém értékekre, az „</a:t>
            </a:r>
            <a:r>
              <a:rPr lang="hu-HU" dirty="0" err="1"/>
              <a:t>outlier</a:t>
            </a:r>
            <a:r>
              <a:rPr lang="hu-HU" dirty="0"/>
              <a:t>”-</a:t>
            </a:r>
            <a:r>
              <a:rPr lang="hu-HU" dirty="0" err="1"/>
              <a:t>ekre</a:t>
            </a:r>
            <a:r>
              <a:rPr lang="hu-HU" dirty="0"/>
              <a:t> </a:t>
            </a:r>
          </a:p>
          <a:p>
            <a:r>
              <a:rPr lang="hu-HU" dirty="0"/>
              <a:t>Nem robosztus adathiányossággal szemben sem</a:t>
            </a:r>
          </a:p>
          <a:p>
            <a:r>
              <a:rPr lang="hu-HU" dirty="0"/>
              <a:t>A magyarázó változók közötti korreláció rontja a modell hatékonyságát 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55204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FD41AA-8639-20F8-AB7A-D22567E72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Döntési fa – Az átlátható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222D687-61F3-3067-27F0-C1FCCCE5E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Előnyök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C0D9B3A-EBC5-9975-DFA2-A5A42AD20D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dirty="0"/>
              <a:t>Automatikusan kezeli – figyelmen kívül hagyja – az irreleváns változókat</a:t>
            </a:r>
          </a:p>
          <a:p>
            <a:r>
              <a:rPr lang="hu-HU" dirty="0"/>
              <a:t>Nem érzékeny a hiányzó értékekre, </a:t>
            </a:r>
          </a:p>
          <a:p>
            <a:r>
              <a:rPr lang="hu-HU" dirty="0"/>
              <a:t>Kategorikus (minőségi) változókat is kezel</a:t>
            </a:r>
          </a:p>
          <a:p>
            <a:r>
              <a:rPr lang="hu-HU" dirty="0"/>
              <a:t>Nem érzékeny az </a:t>
            </a:r>
            <a:r>
              <a:rPr lang="hu-HU" dirty="0" err="1"/>
              <a:t>outlier-ekre</a:t>
            </a:r>
            <a:endParaRPr lang="hu-HU" dirty="0"/>
          </a:p>
          <a:p>
            <a:r>
              <a:rPr lang="hu-HU" dirty="0"/>
              <a:t>Nemcsak lineáris összefüggés lehet a magyarázó és az eredményváltozó között </a:t>
            </a:r>
          </a:p>
          <a:p>
            <a:r>
              <a:rPr lang="hu-HU" dirty="0"/>
              <a:t>Az eredmény könnyen érthető, transzparens és jól indokolható laikusok számára is</a:t>
            </a:r>
          </a:p>
          <a:p>
            <a:r>
              <a:rPr lang="hu-HU" dirty="0"/>
              <a:t>Az egyes </a:t>
            </a:r>
            <a:r>
              <a:rPr lang="hu-HU" dirty="0" err="1"/>
              <a:t>node</a:t>
            </a:r>
            <a:r>
              <a:rPr lang="hu-HU" dirty="0"/>
              <a:t>-okban az eredményváltozó egyes kimenetei arányát is láthatjuk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DF5A886-23CB-D48D-783C-AB3277CCD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 dirty="0"/>
              <a:t>Hátrányok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7C71290-897E-ACCA-FBF7-83082097C05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dirty="0"/>
              <a:t>Problémát okozhat a magyarázó változók közti erős korreláció</a:t>
            </a:r>
          </a:p>
          <a:p>
            <a:r>
              <a:rPr lang="hu-HU" dirty="0"/>
              <a:t>Könnyen kezelhetetlen méretűvé válhat</a:t>
            </a:r>
          </a:p>
          <a:p>
            <a:r>
              <a:rPr lang="hu-HU" dirty="0"/>
              <a:t>Hajlamos a túltanulásra </a:t>
            </a:r>
          </a:p>
          <a:p>
            <a:r>
              <a:rPr lang="hu-HU" dirty="0"/>
              <a:t>Noha az osztályba sorolás általában megbízható, nincs lehetőség a </a:t>
            </a:r>
            <a:r>
              <a:rPr lang="hu-HU" dirty="0" err="1"/>
              <a:t>cutoff</a:t>
            </a:r>
            <a:r>
              <a:rPr lang="hu-HU" dirty="0"/>
              <a:t> érték finomhangolására</a:t>
            </a:r>
          </a:p>
        </p:txBody>
      </p:sp>
    </p:spTree>
    <p:extLst>
      <p:ext uri="{BB962C8B-B14F-4D97-AF65-F5344CB8AC3E}">
        <p14:creationId xmlns:p14="http://schemas.microsoft.com/office/powerpoint/2010/main" val="897559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F08607-8585-6254-2B1C-502967697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Egyéb gyakran használt módszerek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3846F4-F6EA-F2E7-8F04-5128C77CD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KNN: Jó eredményt hozhat, de nem kezeli a kategorikus változókat és az eltérő nagyságrendeket </a:t>
            </a:r>
          </a:p>
          <a:p>
            <a:r>
              <a:rPr lang="hu-HU" dirty="0"/>
              <a:t>SVM: Nem lineáris összefügéseket is jól kezel, kategorikus változókat viszont nem</a:t>
            </a:r>
          </a:p>
          <a:p>
            <a:r>
              <a:rPr lang="hu-HU" dirty="0"/>
              <a:t>Neurális háló: tanulási képesség, nem lineáris összefüggések kezelése, besorolási valószínűségek is ismertek, de érzékeny  a hiányzó és kiugró értékekre, „fekete doboz” </a:t>
            </a:r>
          </a:p>
        </p:txBody>
      </p:sp>
    </p:spTree>
    <p:extLst>
      <p:ext uri="{BB962C8B-B14F-4D97-AF65-F5344CB8AC3E}">
        <p14:creationId xmlns:p14="http://schemas.microsoft.com/office/powerpoint/2010/main" val="381408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F08607-8585-6254-2B1C-502967697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 Folyamat legfontosabb lépései - Adatelőkészítés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A5379C3-CC3F-83CD-9DB8-F2E8910AB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ADATHIÁNYOK KEZELÉSE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3846F4-F6EA-F2E7-8F04-5128C77CD7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hu-HU" dirty="0"/>
              <a:t>MAR és MNAR hiányok egyaránt előfordultak</a:t>
            </a:r>
          </a:p>
          <a:p>
            <a:r>
              <a:rPr lang="hu-HU" dirty="0"/>
              <a:t>Törlés – ha nem nagy a darabszám vagy nem pótolható </a:t>
            </a:r>
          </a:p>
          <a:p>
            <a:r>
              <a:rPr lang="hu-HU" dirty="0" err="1"/>
              <a:t>Imputációs</a:t>
            </a:r>
            <a:r>
              <a:rPr lang="hu-HU" dirty="0"/>
              <a:t> eljárások (átlag, modus vagy hot </a:t>
            </a:r>
            <a:r>
              <a:rPr lang="hu-HU" dirty="0" err="1"/>
              <a:t>deck</a:t>
            </a:r>
            <a:r>
              <a:rPr lang="hu-HU" dirty="0"/>
              <a:t>, </a:t>
            </a:r>
            <a:r>
              <a:rPr lang="hu-HU" dirty="0" err="1"/>
              <a:t>cold</a:t>
            </a:r>
            <a:r>
              <a:rPr lang="hu-HU" dirty="0"/>
              <a:t> </a:t>
            </a:r>
            <a:r>
              <a:rPr lang="hu-HU" dirty="0" err="1"/>
              <a:t>deck</a:t>
            </a:r>
            <a:r>
              <a:rPr lang="hu-HU" dirty="0"/>
              <a:t>)</a:t>
            </a:r>
          </a:p>
          <a:p>
            <a:r>
              <a:rPr lang="hu-HU" dirty="0"/>
              <a:t>Törlést és átlaggal helyettesítést alkalmaztam</a:t>
            </a:r>
          </a:p>
          <a:p>
            <a:endParaRPr lang="hu-HU" dirty="0"/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BBB0AED2-C0F0-A0D4-74D1-98471E4B1C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 dirty="0"/>
              <a:t>KIUGRÓ ÉRTÉKEK KEZELÉSE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F53321DA-9ABA-4247-7113-9A9CCB3850F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hu-HU" dirty="0"/>
              <a:t>A változó jellegétől, </a:t>
            </a:r>
            <a:r>
              <a:rPr lang="hu-HU" dirty="0" err="1"/>
              <a:t>karakterisztákájától</a:t>
            </a:r>
            <a:r>
              <a:rPr lang="hu-HU" dirty="0"/>
              <a:t> függőn kell meghúzni a határt</a:t>
            </a:r>
          </a:p>
          <a:p>
            <a:r>
              <a:rPr lang="hu-HU" dirty="0"/>
              <a:t>A szórást és a gyakoriságot figyelembe véve határoztam</a:t>
            </a:r>
          </a:p>
          <a:p>
            <a:r>
              <a:rPr lang="hu-HU" dirty="0"/>
              <a:t>A 4 numerikus változóból háromnál szükség volt rá</a:t>
            </a:r>
          </a:p>
        </p:txBody>
      </p:sp>
    </p:spTree>
    <p:extLst>
      <p:ext uri="{BB962C8B-B14F-4D97-AF65-F5344CB8AC3E}">
        <p14:creationId xmlns:p14="http://schemas.microsoft.com/office/powerpoint/2010/main" val="3476402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FE299F-FEBA-A7EC-81C1-FAAE2C772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Folyamat legfontosabb lépései – feltáró adatelemzés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873142C-A2D1-05C2-BE92-61972B377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MAGYARÁZÓ ERŐ FELTÉRKÉPEZÉSE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3239D2C-CFEF-9A4B-54D5-BD1343C180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Lift: kiválasztott csoporton belül hányszor nagyobb a célesemény bekövetkezésének valószínűsége, mint a teljes mintában</a:t>
            </a:r>
          </a:p>
          <a:p>
            <a:r>
              <a:rPr lang="hu-HU" dirty="0"/>
              <a:t>WOE: </a:t>
            </a:r>
            <a:r>
              <a:rPr lang="hu-HU" dirty="0" err="1"/>
              <a:t>odds</a:t>
            </a:r>
            <a:r>
              <a:rPr lang="hu-HU" dirty="0"/>
              <a:t>-ok logaritmusa, illetve </a:t>
            </a:r>
            <a:r>
              <a:rPr lang="hu-HU" dirty="0" err="1"/>
              <a:t>Information</a:t>
            </a:r>
            <a:r>
              <a:rPr lang="hu-HU" dirty="0"/>
              <a:t> </a:t>
            </a:r>
            <a:r>
              <a:rPr lang="hu-HU" dirty="0" err="1"/>
              <a:t>Value</a:t>
            </a:r>
            <a:r>
              <a:rPr lang="hu-HU" dirty="0"/>
              <a:t> </a:t>
            </a:r>
          </a:p>
          <a:p>
            <a:r>
              <a:rPr lang="hu-HU" dirty="0" err="1"/>
              <a:t>Woe</a:t>
            </a:r>
            <a:r>
              <a:rPr lang="hu-HU" dirty="0"/>
              <a:t> </a:t>
            </a:r>
            <a:r>
              <a:rPr lang="hu-HU" dirty="0" err="1"/>
              <a:t>binning</a:t>
            </a:r>
            <a:r>
              <a:rPr lang="hu-HU" dirty="0"/>
              <a:t> csomaggal végeztem WOE transzformációt és IV számítást: egy mutató kivételével gyenge magyarázó erőt mutatott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D263C74B-8C8A-BDEC-0C98-0E420FC15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 dirty="0"/>
              <a:t>BINNELÉS - ADATÁTALAKITÁS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EE24D2FD-759F-533A-5243-A26D7473C20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Modelltől függően (pl. logisztikus regresszió) szükség lehet a kategorikus változók átalakítására</a:t>
            </a:r>
          </a:p>
          <a:p>
            <a:r>
              <a:rPr lang="hu-HU" dirty="0"/>
              <a:t>A </a:t>
            </a:r>
            <a:r>
              <a:rPr lang="hu-HU" dirty="0" err="1"/>
              <a:t>binnelés</a:t>
            </a:r>
            <a:r>
              <a:rPr lang="hu-HU" dirty="0"/>
              <a:t> ezen kívül a változók egyes értékei magyarázó erejét is jól mutatja, valamint ez alapján </a:t>
            </a:r>
            <a:r>
              <a:rPr lang="hu-HU" dirty="0" err="1"/>
              <a:t>újrarendezi</a:t>
            </a:r>
            <a:r>
              <a:rPr lang="hu-H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4110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FE299F-FEBA-A7EC-81C1-FAAE2C772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Folyamat legfontosabb lépései – feltáró adatelemzés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873142C-A2D1-05C2-BE92-61972B377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KORRELÁCIÓK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3239D2C-CFEF-9A4B-54D5-BD1343C180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hu-HU" dirty="0"/>
              <a:t>Az alkalmazott modelltől függően, de általában rontja a hatékonyságot</a:t>
            </a:r>
          </a:p>
          <a:p>
            <a:r>
              <a:rPr lang="hu-HU" dirty="0"/>
              <a:t>Nagyon erős összefüggés esetén az egyik változó elhagyása vagy egy közös mutatóval helyettesítés jöhet szóba</a:t>
            </a:r>
          </a:p>
          <a:p>
            <a:r>
              <a:rPr lang="hu-HU" dirty="0"/>
              <a:t>Egy változót kizártam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D263C74B-8C8A-BDEC-0C98-0E420FC15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 dirty="0"/>
              <a:t>VÁLTOZÓSZELEKCIÓ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EE24D2FD-759F-533A-5243-A26D7473C20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hu-HU" dirty="0"/>
              <a:t>Adathiány, korrelációk miatt is eshet ki</a:t>
            </a:r>
          </a:p>
          <a:p>
            <a:r>
              <a:rPr lang="hu-HU" dirty="0"/>
              <a:t>Nagyszámú változó esetén ésszerű a modell egyszerűsítése és üzleti okok miatt egyaránt</a:t>
            </a:r>
          </a:p>
          <a:p>
            <a:r>
              <a:rPr lang="hu-HU" dirty="0"/>
              <a:t>Magyarázó erő alapján (IV, WOE mutató)</a:t>
            </a:r>
          </a:p>
          <a:p>
            <a:r>
              <a:rPr lang="hu-HU" dirty="0"/>
              <a:t>Itt nem volt szükség erre</a:t>
            </a:r>
          </a:p>
        </p:txBody>
      </p:sp>
    </p:spTree>
    <p:extLst>
      <p:ext uri="{BB962C8B-B14F-4D97-AF65-F5344CB8AC3E}">
        <p14:creationId xmlns:p14="http://schemas.microsoft.com/office/powerpoint/2010/main" val="933944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FE299F-FEBA-A7EC-81C1-FAAE2C772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A Folyamat legfontosabb lépései – Modell összeállítása és kiértékelés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873142C-A2D1-05C2-BE92-61972B377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MODELL ÖSSZEÁLLITÁSA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3239D2C-CFEF-9A4B-54D5-BD1343C180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Döntési fa:  </a:t>
            </a:r>
          </a:p>
          <a:p>
            <a:pPr lvl="1"/>
            <a:r>
              <a:rPr lang="hu-HU" dirty="0"/>
              <a:t>C5.0 függvény használatával</a:t>
            </a:r>
          </a:p>
          <a:p>
            <a:pPr lvl="1"/>
            <a:r>
              <a:rPr lang="hu-HU" dirty="0"/>
              <a:t>Költségmátrixszal </a:t>
            </a:r>
            <a:r>
              <a:rPr lang="hu-HU" dirty="0" err="1"/>
              <a:t>boost-olás</a:t>
            </a:r>
            <a:r>
              <a:rPr lang="hu-HU" dirty="0"/>
              <a:t> </a:t>
            </a:r>
          </a:p>
          <a:p>
            <a:r>
              <a:rPr lang="hu-HU" dirty="0"/>
              <a:t>Logisztikus regresszió </a:t>
            </a:r>
          </a:p>
          <a:p>
            <a:pPr lvl="1"/>
            <a:r>
              <a:rPr lang="hu-HU" dirty="0"/>
              <a:t>Kategorikus változók </a:t>
            </a:r>
            <a:r>
              <a:rPr lang="hu-HU" dirty="0" err="1"/>
              <a:t>dummyvá</a:t>
            </a:r>
            <a:r>
              <a:rPr lang="hu-HU" dirty="0"/>
              <a:t> alakítása („</a:t>
            </a:r>
            <a:r>
              <a:rPr lang="hu-HU" dirty="0" err="1"/>
              <a:t>dummyVars</a:t>
            </a:r>
            <a:r>
              <a:rPr lang="hu-HU" dirty="0"/>
              <a:t>”)</a:t>
            </a:r>
          </a:p>
          <a:p>
            <a:pPr lvl="1"/>
            <a:r>
              <a:rPr lang="hu-HU" dirty="0"/>
              <a:t>GLM függvény, binomiális opció + </a:t>
            </a:r>
            <a:r>
              <a:rPr lang="hu-HU" dirty="0" err="1"/>
              <a:t>step</a:t>
            </a:r>
            <a:r>
              <a:rPr lang="hu-HU" dirty="0"/>
              <a:t> javítás</a:t>
            </a:r>
          </a:p>
          <a:p>
            <a:pPr lvl="1"/>
            <a:r>
              <a:rPr lang="hu-HU" dirty="0"/>
              <a:t>0,7 </a:t>
            </a:r>
            <a:r>
              <a:rPr lang="hu-HU" dirty="0" err="1"/>
              <a:t>cutoff</a:t>
            </a:r>
            <a:r>
              <a:rPr lang="hu-HU" dirty="0"/>
              <a:t> érték </a:t>
            </a:r>
            <a:r>
              <a:rPr lang="hu-HU" dirty="0" err="1"/>
              <a:t>meghatrozása</a:t>
            </a:r>
            <a:endParaRPr lang="hu-HU" dirty="0"/>
          </a:p>
          <a:p>
            <a:pPr lvl="1"/>
            <a:endParaRPr lang="hu-HU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D263C74B-8C8A-BDEC-0C98-0E420FC15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 dirty="0"/>
              <a:t>KIÉRTÉKELÉS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EE24D2FD-759F-533A-5243-A26D7473C20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 err="1"/>
              <a:t>Konfuziós</a:t>
            </a:r>
            <a:r>
              <a:rPr lang="hu-HU" dirty="0"/>
              <a:t> mátrix, kiemelten az </a:t>
            </a:r>
            <a:r>
              <a:rPr lang="hu-HU" dirty="0" err="1"/>
              <a:t>Accuracy</a:t>
            </a:r>
            <a:r>
              <a:rPr lang="hu-HU" dirty="0"/>
              <a:t> és </a:t>
            </a:r>
            <a:r>
              <a:rPr lang="hu-HU" dirty="0" err="1"/>
              <a:t>Sensitivity</a:t>
            </a:r>
            <a:r>
              <a:rPr lang="hu-HU" dirty="0"/>
              <a:t> </a:t>
            </a:r>
          </a:p>
          <a:p>
            <a:r>
              <a:rPr lang="hu-HU" dirty="0"/>
              <a:t>Lehet költségmátrixszal súlyozni</a:t>
            </a:r>
          </a:p>
          <a:p>
            <a:r>
              <a:rPr lang="hu-HU" dirty="0"/>
              <a:t>ROC, illetve a görbe alatti terület, az AUROC vagy AUC, illetve Gini</a:t>
            </a:r>
          </a:p>
          <a:p>
            <a:r>
              <a:rPr lang="hu-HU" dirty="0"/>
              <a:t>Modellünk </a:t>
            </a:r>
            <a:r>
              <a:rPr lang="hu-HU" dirty="0" err="1"/>
              <a:t>Accuracy</a:t>
            </a:r>
            <a:r>
              <a:rPr lang="hu-HU" dirty="0"/>
              <a:t> szempontjából jól teljesített, de a </a:t>
            </a:r>
            <a:r>
              <a:rPr lang="hu-HU" dirty="0" err="1"/>
              <a:t>Sensitivity</a:t>
            </a:r>
            <a:r>
              <a:rPr lang="hu-HU" dirty="0"/>
              <a:t> nem elégséges </a:t>
            </a:r>
          </a:p>
          <a:p>
            <a:r>
              <a:rPr lang="hu-HU" dirty="0"/>
              <a:t>A változók magyarázó ereje gyenge volt!</a:t>
            </a:r>
          </a:p>
        </p:txBody>
      </p:sp>
    </p:spTree>
    <p:extLst>
      <p:ext uri="{BB962C8B-B14F-4D97-AF65-F5344CB8AC3E}">
        <p14:creationId xmlns:p14="http://schemas.microsoft.com/office/powerpoint/2010/main" val="4067038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B02F5F-3CF1-BC9C-FB59-8CABD759E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472446"/>
            <a:ext cx="8534401" cy="2281600"/>
          </a:xfrm>
        </p:spPr>
        <p:txBody>
          <a:bodyPr/>
          <a:lstStyle/>
          <a:p>
            <a:r>
              <a:rPr lang="hu-HU" dirty="0"/>
              <a:t>Összefoglalás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F32F033-C69A-A2E6-8801-81A941CEF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3992578"/>
            <a:ext cx="8534400" cy="2001822"/>
          </a:xfrm>
        </p:spPr>
        <p:txBody>
          <a:bodyPr>
            <a:normAutofit fontScale="92500" lnSpcReduction="20000"/>
          </a:bodyPr>
          <a:lstStyle/>
          <a:p>
            <a:r>
              <a:rPr lang="hu-HU" dirty="0"/>
              <a:t>A cél a folyamat, a legfontosabb lépések, legjellemzőbb problémák bemutatása volt</a:t>
            </a:r>
          </a:p>
          <a:p>
            <a:r>
              <a:rPr lang="hu-HU" dirty="0"/>
              <a:t>Nem egy hatékony, magas pontosságú modell felállítása </a:t>
            </a:r>
          </a:p>
          <a:p>
            <a:r>
              <a:rPr lang="hu-HU" dirty="0"/>
              <a:t>Sokkal jobb minőségű, valós adatbázis és gondosabb előkészítés (magyarázó erő, korrelációk, asszociáció vizsgálata) lenne szükséges</a:t>
            </a:r>
          </a:p>
          <a:p>
            <a:r>
              <a:rPr lang="hu-HU" dirty="0"/>
              <a:t>Kifinomultabb, több módszert használó modellépítés is hozhat nagyobb pontosságot  </a:t>
            </a:r>
          </a:p>
        </p:txBody>
      </p:sp>
    </p:spTree>
    <p:extLst>
      <p:ext uri="{BB962C8B-B14F-4D97-AF65-F5344CB8AC3E}">
        <p14:creationId xmlns:p14="http://schemas.microsoft.com/office/powerpoint/2010/main" val="2833968044"/>
      </p:ext>
    </p:extLst>
  </p:cSld>
  <p:clrMapOvr>
    <a:masterClrMapping/>
  </p:clrMapOvr>
</p:sld>
</file>

<file path=ppt/theme/theme1.xml><?xml version="1.0" encoding="utf-8"?>
<a:theme xmlns:a="http://schemas.openxmlformats.org/drawingml/2006/main" name="Szelet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315</TotalTime>
  <Words>818</Words>
  <Application>Microsoft Office PowerPoint</Application>
  <PresentationFormat>Szélesvásznú</PresentationFormat>
  <Paragraphs>108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Szelet</vt:lpstr>
      <vt:lpstr>Egy banki hitelbírálati rendszer lehetséges modellje</vt:lpstr>
      <vt:lpstr>Egy Banki Hitelbírálati rendszer lehetséges modellje</vt:lpstr>
      <vt:lpstr>Minősítő rendszerek kulcsszerepet játszanak a banki kockázatkezelésben</vt:lpstr>
      <vt:lpstr>A minősítő rendszerek két alaptípusa: Rating és scoring</vt:lpstr>
      <vt:lpstr>Kialakított Modell – retail jelentkezési scoring</vt:lpstr>
      <vt:lpstr>Logisztikus regresszió – a leggyakoribb</vt:lpstr>
      <vt:lpstr>Döntési fa – Az átlátható</vt:lpstr>
      <vt:lpstr>Egyéb gyakran használt módszerek</vt:lpstr>
      <vt:lpstr>A Folyamat legfontosabb lépései - Adatelőkészítés</vt:lpstr>
      <vt:lpstr>A Folyamat legfontosabb lépései – feltáró adatelemzés</vt:lpstr>
      <vt:lpstr>A Folyamat legfontosabb lépései – feltáró adatelemzés</vt:lpstr>
      <vt:lpstr>A Folyamat legfontosabb lépései – Modell összeállítása és kiértékelés</vt:lpstr>
      <vt:lpstr>Összefoglalás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Egy banki hitelbírálati rendszer lehetséges modellje</dc:title>
  <dc:creator>Zoltán</dc:creator>
  <cp:lastModifiedBy>Zoltán</cp:lastModifiedBy>
  <cp:revision>14</cp:revision>
  <dcterms:created xsi:type="dcterms:W3CDTF">2023-06-10T16:31:52Z</dcterms:created>
  <dcterms:modified xsi:type="dcterms:W3CDTF">2023-06-25T07:28:53Z</dcterms:modified>
</cp:coreProperties>
</file>